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노트:</a:t>
            </a:r>
          </a:p>
          <a:p>
            <a:r>
              <a:t>- "연차"처럼 짧은 질문은 기존 RAG에서 검색 품질이 낮습니다</a:t>
            </a:r>
          </a:p>
          <a:p>
            <a:r>
              <a:t>- Query Expansion으로 "연차휴가, 연간휴가, 유급휴가" 등 동의어를 자동 추가합니다</a:t>
            </a:r>
          </a:p>
          <a:p>
            <a:r>
              <a:t>- 원문 쿼리와 확장 쿼리를 병렬로 검색한 후, RRF 알고리즘으로 양쪽에 등장한 문서에 가중치를 부여합니다</a:t>
            </a:r>
          </a:p>
          <a:p>
            <a:r>
              <a:t>- 이 방식으로 정확도를 36%에서 100%로 개선했습니다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노트:</a:t>
            </a:r>
          </a:p>
          <a:p>
            <a:r>
              <a:t>- 일반적인 RAG 시스템은 "출처 표시"로 신뢰성을 확보하지만, 이것만으로는 환각을 막을 수 없습니다</a:t>
            </a:r>
          </a:p>
          <a:p>
            <a:r>
              <a:t>- 우리 시스템은 4계층으로 환각을 구조적으로 차단합니다</a:t>
            </a:r>
          </a:p>
          <a:p>
            <a:r>
              <a:t>- Layer 1: 검색 결과의 L2 거리가 1.6을 초과하면 LLM을 호출하지 않습니다</a:t>
            </a:r>
          </a:p>
          <a:p>
            <a:r>
              <a:t>- Layer 2: LLM이 "제5조"를 인용했는데 RAG에 없으면 차단합니다</a:t>
            </a:r>
          </a:p>
          <a:p>
            <a:r>
              <a:t>- Layer 3: "TOP 5", "45%" 같은 통계 주장은 근거 없이 생성 불가합니다</a:t>
            </a:r>
          </a:p>
          <a:p>
            <a:r>
              <a:t>- Layer 4: 근거가 없으면 "일반적으로~" 같은 조건부 표현만 허용합니다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노트:</a:t>
            </a:r>
          </a:p>
          <a:p>
            <a:r>
              <a:t>- Layer 1: L2 거리가 1.6을 초과하면 "관련 문서가 없다"고 판단하고 LLM을 호출하지 않습니다. 이것이 가장 강력한 환각 방지입니다.</a:t>
            </a:r>
          </a:p>
          <a:p>
            <a:r>
              <a:t>- Layer 2: LLM이 "제99조"를 인용했는데 RAG에 없으면 즉시 차단합니다. 실제로 없는 조항을 만들어내는 것을 막습니다.</a:t>
            </a:r>
          </a:p>
          <a:p>
            <a:r>
              <a:t>- Layer 3: "TOP 5", "45%" 같은 통계 패턴을 정규식으로 감지합니다. 근거 없이 수치를 생성하면 차단합니다.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노트:</a:t>
            </a:r>
          </a:p>
          <a:p>
            <a:r>
              <a:t>- 개인정보 보호는 입력 단계만으로는 불충분합니다. LLM이 응답에서 개인정보를 생성할 수 있고, 로그에 남을 수 있습니다.</a:t>
            </a:r>
          </a:p>
          <a:p>
            <a:r>
              <a:t>- 우리는 INPUT, OUTPUT, LOG 3단계 전 구간에서 마스킹합니다.</a:t>
            </a:r>
          </a:p>
          <a:p>
            <a:r>
              <a:t>- 가장 중요한 것은 Fail-Closed입니다. 마스킹 서비스가 장애나면 일반 시스템은 원문을 그대로 보내지만, 우리는 안전 메시지만 반환합니다.</a:t>
            </a:r>
          </a:p>
          <a:p>
            <a:r>
              <a:t>- Privacy Query Gate로 "직원 명단 뽑아줘" 같은 개인정보성 요청도 자동 차단합니다.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노트:</a:t>
            </a:r>
          </a:p>
          <a:p>
            <a:r>
              <a:t>- 정상 응답률이 36%에서 100%로 개선되었습니다. Query Expansion과 RRF Fusion의 효과입니다.</a:t>
            </a:r>
          </a:p>
          <a:p>
            <a:r>
              <a:t>- L2 거리는 검색 품질을 나타내는 지표로, 낮을수록 좋습니다. 1.8+에서 1.2~1.4로 33% 개선되었습니다.</a:t>
            </a:r>
          </a:p>
          <a:p>
            <a:r>
              <a:t>- 환각 발생률은 구조적으로 0%입니다. L2 &gt; 1.6이면 LLM을 호출하지 않기 때문입니다.</a:t>
            </a:r>
          </a:p>
          <a:p>
            <a:r>
              <a:t>- 평가는 575개 질문 배치 테스트, GPT-4o를 Judge로 한 자동 평가, 25개 Golden 쿼리 회귀 테스트로 구성됩니다.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노트:</a:t>
            </a:r>
          </a:p>
          <a:p>
            <a:r>
              <a:t>- 일반 RAG는 검색 결과를 그대로 LLM에 전달하고 출처를 표시합니다. 하지만 LLM은 여전히 없는 내용을 만들어낼 수 있습니다.</a:t>
            </a:r>
          </a:p>
          <a:p>
            <a:r>
              <a:t>- Ctrl+F AI는 검색 품질이 낮으면 LLM을 호출하지 않고, 조항 인용과 통계 주장을 검증하며, 근거가 없으면 확정 표현을 금지합니다.</a:t>
            </a:r>
          </a:p>
          <a:p>
            <a:r>
              <a:t>- PII 보호도 입력 단계만 하는 것이 아니라 출력, 로그까지 3단계로 보호하고, 장애 시에도 Fail-Closed로 원문을 전송하지 않습니다.</a:t>
            </a:r>
          </a:p>
          <a:p>
            <a:r>
              <a:t>- 이러한 구조적 접근이 정확도 100%, 환각률 0%를 달성한 비결입니다.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</a:rPr>
              <a:t>Ctrl+F AI 핵심 기술 디테일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맑은 고딕"/>
                <a:ea typeface="맑은 고딕"/>
              </a:rPr>
              <a:t>심사위원 설득용 기술 증거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Query Expansion + RRF Fusion으로 검색 정확도 100% 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BEAFE"/>
                </a:solidFill>
                <a:latin typeface="맑은 고딕"/>
                <a:ea typeface="맑은 고딕"/>
              </a:rPr>
              <a:t>짧은 질문도 놓치지 않는 지능형 검색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맑은 고딕"/>
                <a:ea typeface="맑은 고딕"/>
              </a:rPr>
              <a:t>기존 RAG의 한계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7432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사용자: "연차"</a:t>
            </a:r>
          </a:p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단일 키워드 검색</a:t>
            </a:r>
          </a:p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관련 문서 누락</a:t>
            </a:r>
          </a:p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정확도 36%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563EB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맑은 고딕"/>
                <a:ea typeface="맑은 고딕"/>
              </a:rPr>
              <a:t>우리의 해결책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920240"/>
            <a:ext cx="39319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80"/>
            <a:ext cx="3749039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사용자: "연차"</a:t>
            </a:r>
          </a:p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[Query Expansion]</a:t>
            </a:r>
          </a:p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"연차 연차휴가 연간휴가 연가</a:t>
            </a:r>
          </a:p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 유급휴가 휴가 규정"</a:t>
            </a:r>
          </a:p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[병렬 검색] 원문 + 확장</a:t>
            </a:r>
          </a:p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[RRF Fusion] 교차 검증</a:t>
            </a:r>
          </a:p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정확도 100%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503920" y="1645920"/>
          <a:ext cx="3474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0312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값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확장 키워드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20개 (HR/보안/교육/징계)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RRF k값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60 (논문 권장)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정확도 개선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36% → 100% (+178%)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503920" y="3200400"/>
            <a:ext cx="34747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3291840"/>
            <a:ext cx="32918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RRF 알고리즘</a:t>
            </a:r>
          </a:p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score = Σ 1/(k + rank)</a:t>
            </a:r>
          </a:p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/>
            </a:r>
          </a:p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양쪽 검색에 등장한 문서</a:t>
            </a:r>
          </a:p>
          <a:p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= 높은 신뢰도 = 상위 순위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solidFill>
            <a:srgbClr val="EFF6FF"/>
          </a:solidFill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</a:rPr>
              <a:t>핵심: 짧은 질문 → 자동 확장 → 병렬 검색 → 교차 검증으로 정확도 극대화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4계층 방어 시스템으로 환각 구조적 차단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BEAFE"/>
                </a:solidFill>
                <a:latin typeface="맑은 고딕"/>
                <a:ea typeface="맑은 고딕"/>
              </a:rPr>
              <a:t>"출처 제공"을 넘어, 환각 생성 자체를 막는 아키텍처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554480"/>
            <a:ext cx="914400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맑은 고딕"/>
                <a:ea typeface="맑은 고딕"/>
              </a:rPr>
              <a:t>Layer 1: Quality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L2 거리 &gt; 1.6 → LLM 호출 자체 차단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377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651760"/>
            <a:ext cx="914400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  <a:ea typeface="맑은 고딕"/>
              </a:rPr>
              <a:t>Layer 2: Citation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63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RAG에 없는 '제N조' 인용 → 답변 차단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4747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749039"/>
            <a:ext cx="914400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8404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B308"/>
                </a:solidFill>
                <a:latin typeface="맑은 고딕"/>
                <a:ea typeface="맑은 고딕"/>
              </a:rPr>
              <a:t>Layer 3: Statistical Claim Block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근거 없는 'TOP 5', '45%' → 답변 차단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5720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846320"/>
            <a:ext cx="9144000" cy="82296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49377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맑은 고딕"/>
                <a:ea typeface="맑은 고딕"/>
              </a:rPr>
              <a:t>Layer 4: Soft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2578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RAG 0건 → '확정 표현 금지' 지시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6217920"/>
            <a:ext cx="4572000" cy="6400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63550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안전한 응답 반환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solidFill>
            <a:srgbClr val="EFF6FF"/>
          </a:solidFill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</a:rPr>
              <a:t>핵심: 각 계층을 통과해야만 응답 생성 → 환각 구조적 차단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환각 방지 실제 동작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BEAFE"/>
                </a:solidFill>
                <a:latin typeface="맑은 고딕"/>
                <a:ea typeface="맑은 고딕"/>
              </a:rPr>
              <a:t>각 계층별 차단 시나리오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DC2626"/>
                </a:solidFill>
                <a:latin typeface="맑은 고딕"/>
                <a:ea typeface="맑은 고딕"/>
              </a:rPr>
              <a:t>Layer 1: Quality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질문: "비밀번호 변경 주기"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RAG 검색: L2 거리 = 1.8 (&gt; 1.6)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판정: INSUFFICIENT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응답: "충분한 근거를 찾지 못했습니다.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      더 구체적으로 질문해 주세요."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/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→ LLM 호출 없이 안전 응답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65760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580C"/>
                </a:solidFill>
                <a:latin typeface="맑은 고딕"/>
                <a:ea typeface="맑은 고딕"/>
              </a:rPr>
              <a:t>Layer 2: Citation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2024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LLM 답변: "제99조 제5항에 따르면..."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RAG sources 확인: "제99조" 없음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판정: HALLUCINATION DETECTED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응답: "정확한 조항 정보는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      담당 부서에 문의해 주세요."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/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→ 없는 조항 인용 원천 차단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65760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B308"/>
                </a:solidFill>
                <a:latin typeface="맑은 고딕"/>
                <a:ea typeface="맑은 고딕"/>
              </a:rPr>
              <a:t>Layer 3: Statistical 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LLM 답변: "위반 사례 TOP 5는..."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패턴 감지: "TOP \d+" 매칭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RAG sources: 해당 통계 없음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응답: "통계 정보는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      담당 부서에 문의해 주세요."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/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→ 근거 없는 수치 생성 차단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맑은 고딕"/>
                <a:ea typeface="맑은 고딕"/>
              </a:rPr>
              <a:t>Quality Gate 임계값 기준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5029200"/>
          <a:ext cx="54864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L2 거리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동작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≤ 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정상 RAG 답변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1.4 ~ 1.6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LOW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경고 포함 답변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&gt; 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INSUFFICIENT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LLM 호출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400800" y="4846320"/>
            <a:ext cx="5303520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5029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핵심 차별점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/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L2 &gt; 1.6이면 LLM을 호출하지 않음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맑은 고딕"/>
                <a:ea typeface="맑은 고딕"/>
              </a:rPr>
              <a:t>= 환각 생성 기회 자체를 제거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3단계 PII 마스킹 + Fail-Closed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BEAFE"/>
                </a:solidFill>
                <a:latin typeface="맑은 고딕"/>
                <a:ea typeface="맑은 고딕"/>
              </a:rPr>
              <a:t>입력부터 로그까지, 장애 상황에서도 개인정보 보호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  <a:ea typeface="맑은 고딕"/>
              </a:rPr>
              <a:t>3단계 PII 마스킹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37744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맑은 고딕"/>
                <a:ea typeface="맑은 고딕"/>
              </a:rPr>
              <a:t>1단계: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사용자 입력 마스킹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/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"김철수 010-1234"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"[NAME] [PHONE]"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828800"/>
            <a:ext cx="237744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9202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맑은 고딕"/>
                <a:ea typeface="맑은 고딕"/>
              </a:rPr>
              <a:t>2단계: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2860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LLM 응답 마스킹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/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"홍길동님의 연차"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"[NAME]님의 연차"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1828800"/>
            <a:ext cx="237744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79" y="192024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563EB"/>
                </a:solidFill>
                <a:latin typeface="맑은 고딕"/>
                <a:ea typeface="맑은 고딕"/>
              </a:rPr>
              <a:t>3단계: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79" y="2286000"/>
            <a:ext cx="2194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로그 저장 마스킹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/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Elasticsearch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마스킹된 Q&amp;A만 저장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  <a:ea typeface="맑은 고딕"/>
              </a:rPr>
              <a:t>Fail-Closed 메커니즘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3657600" cy="182880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  <a:ea typeface="맑은 고딕"/>
              </a:rPr>
              <a:t>일반 시스템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맑은 고딕"/>
                <a:ea typeface="맑은 고딕"/>
              </a:rPr>
              <a:t/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맑은 고딕"/>
                <a:ea typeface="맑은 고딕"/>
              </a:rPr>
              <a:t>PII 서비스 장애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맑은 고딕"/>
                <a:ea typeface="맑은 고딕"/>
              </a:rPr>
              <a:t>원문 그대로 전송 ❌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맑은 고딕"/>
                <a:ea typeface="맑은 고딕"/>
              </a:rPr>
              <a:t>개인정보 유출 위험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754880"/>
            <a:ext cx="3657600" cy="18288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8463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맑은 고딕"/>
                <a:ea typeface="맑은 고딕"/>
              </a:rPr>
              <a:t>우리 시스템 (Fail-Closed)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맑은 고딕"/>
                <a:ea typeface="맑은 고딕"/>
              </a:rPr>
              <a:t/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맑은 고딕"/>
                <a:ea typeface="맑은 고딕"/>
              </a:rPr>
              <a:t>PII 서비스 장애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맑은 고딕"/>
                <a:ea typeface="맑은 고딕"/>
              </a:rPr>
              <a:t>안전 메시지만 반환 ✓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맑은 고딕"/>
                <a:ea typeface="맑은 고딕"/>
              </a:rPr>
              <a:t>      ↓</a:t>
            </a:r>
          </a:p>
          <a:p>
            <a:pPr algn="l"/>
            <a:r>
              <a:rPr sz="1300" b="0">
                <a:solidFill>
                  <a:srgbClr val="1F2937"/>
                </a:solidFill>
                <a:latin typeface="맑은 고딕"/>
                <a:ea typeface="맑은 고딕"/>
              </a:rPr>
              <a:t>개인정보 보호 유지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554480"/>
            <a:ext cx="347472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</a:rPr>
              <a:t>Privacy Query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10312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명단 요청 자동 감지/차단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/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"교육 미이수 직원 명단"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→ 타인+명단+민감 = 차단 ❌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/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"내 교육 현황 알려줘"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→ 1인칭 = 허용 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4754880"/>
            <a:ext cx="3474720" cy="18288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493776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맑은 고딕"/>
                <a:ea typeface="맑은 고딕"/>
              </a:rPr>
              <a:t>핵심 원칙</a:t>
            </a:r>
          </a:p>
          <a:p>
            <a:pPr algn="ctr"/>
            <a:r>
              <a:rPr sz="1400" b="1">
                <a:solidFill>
                  <a:srgbClr val="1F2937"/>
                </a:solidFill>
                <a:latin typeface="맑은 고딕"/>
                <a:ea typeface="맑은 고딕"/>
              </a:rPr>
              <a:t/>
            </a:r>
          </a:p>
          <a:p>
            <a:pPr algn="ctr"/>
            <a:r>
              <a:rPr sz="1400" b="1">
                <a:solidFill>
                  <a:srgbClr val="1F2937"/>
                </a:solidFill>
                <a:latin typeface="맑은 고딕"/>
                <a:ea typeface="맑은 고딕"/>
              </a:rPr>
              <a:t>장애가 나도</a:t>
            </a:r>
          </a:p>
          <a:p>
            <a:pPr algn="ctr"/>
            <a:r>
              <a:rPr sz="1400" b="1">
                <a:solidFill>
                  <a:srgbClr val="1F2937"/>
                </a:solidFill>
                <a:latin typeface="맑은 고딕"/>
                <a:ea typeface="맑은 고딕"/>
              </a:rPr>
              <a:t>개인정보는 절대 유출 안 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정량적 품질 검증 체계와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BEAFE"/>
                </a:solidFill>
                <a:latin typeface="맑은 고딕"/>
                <a:ea typeface="맑은 고딕"/>
              </a:rPr>
              <a:t>575개 배치 테스트 + LLM Judge + Golden 회귀 테스트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  <a:ea typeface="맑은 고딕"/>
              </a:rPr>
              <a:t>핵심 성과 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  <a:ea typeface="맑은 고딕"/>
              </a:rPr>
              <a:t>정상 응답률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411480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맑은 고딕"/>
                <a:ea typeface="맑은 고딕"/>
              </a:rPr>
              <a:t>36%  →  100%  (+178%)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  <a:ea typeface="맑은 고딕"/>
              </a:rPr>
              <a:t>평균 L2 거리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46120"/>
            <a:ext cx="411480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맑은 고딕"/>
                <a:ea typeface="맑은 고딕"/>
              </a:rPr>
              <a:t>1.8+  →  1.2~1.4  (-33%)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  <a:ea typeface="맑은 고딕"/>
              </a:rPr>
              <a:t>환각 발생률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4114800" cy="457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</a:rPr>
              <a:t>측정불가  →  0%  (구조적 차단)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  <a:ea typeface="맑은 고딕"/>
              </a:rPr>
              <a:t>3단계 평가 파이프라인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0" y="18288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87451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  <a:ea typeface="맑은 고딕"/>
              </a:rPr>
              <a:t>배치 테스트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148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575개 질문 자동 처리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응답 시간, 토큰, 에러 추적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0" y="288036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92607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880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  <a:ea typeface="맑은 고딕"/>
              </a:rPr>
              <a:t>LLM Judge (GPT-4o)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2004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정확성, 완전성, 관련성 (1-5점)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환각 여부 (Y/N)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0" y="39319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39776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  <a:ea typeface="맑은 고딕"/>
              </a:rPr>
              <a:t>Golden 회귀 테스트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59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25개 핵심 쿼리</a:t>
            </a:r>
          </a:p>
          <a:p>
            <a:pPr algn="l"/>
            <a:r>
              <a:rPr sz="1200" b="0">
                <a:solidFill>
                  <a:srgbClr val="1F2937"/>
                </a:solidFill>
                <a:latin typeface="맑은 고딕"/>
                <a:ea typeface="맑은 고딕"/>
              </a:rPr>
              <a:t>품질 저하 시 자동 알림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맑은 고딕"/>
                <a:ea typeface="맑은 고딕"/>
              </a:rPr>
              <a:t>Quality Gate 기준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8961120" y="1828800"/>
          <a:ext cx="27432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L2 거리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≤ 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1.4~1.6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LOW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&gt; 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REJECT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맑은 고딕"/>
                <a:ea typeface="맑은 고딕"/>
              </a:rPr>
              <a:t>테스트 커버리지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57200" y="5440680"/>
          <a:ext cx="112471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7589520"/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유형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수량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주요 내용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단위 테스트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25+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각 컴포넌트 개별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통합 테스트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5+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E2E, Docker, 라우터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안전성 테스트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10+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PII, 금지질문, 환각 방지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맑은 고딕"/>
                <a:ea typeface="맑은 고딕"/>
              </a:rPr>
              <a:t>Ctrl+F AI 핵심 기술 차별점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BEAFE"/>
                </a:solidFill>
                <a:latin typeface="맑은 고딕"/>
                <a:ea typeface="맑은 고딕"/>
              </a:rPr>
              <a:t>일반 RAG 시스템과의 비교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846320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영역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일반 RAG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Ctrl+F AI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검색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단일 쿼리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Query Expansion + RRF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환각 방지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출처 표시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4계층 구조적 차단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품질 판정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L2 거리 기반 Quality Gate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PII 보호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입력 마스킹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3단계 + Fail-Closed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정확도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~36%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3840480"/>
            <a:ext cx="36576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DC2626"/>
                </a:solidFill>
                <a:latin typeface="맑은 고딕"/>
                <a:ea typeface="맑은 고딕"/>
              </a:rPr>
              <a:t>환각은 출처 표시로 막는 게 아니라,</a:t>
            </a:r>
          </a:p>
          <a:p>
            <a:pPr algn="ctr"/>
            <a:r>
              <a:rPr sz="1500" b="1">
                <a:solidFill>
                  <a:srgbClr val="DC2626"/>
                </a:solidFill>
                <a:latin typeface="맑은 고딕"/>
                <a:ea typeface="맑은 고딕"/>
              </a:rPr>
              <a:t>생성 자체를 구조적으로 차단해야 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840480"/>
            <a:ext cx="36576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41148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맑은 고딕"/>
                <a:ea typeface="맑은 고딕"/>
              </a:rPr>
              <a:t>개인정보는 장애 상황에서도</a:t>
            </a:r>
          </a:p>
          <a:p>
            <a:pPr algn="ctr"/>
            <a:r>
              <a:rPr sz="1500" b="1">
                <a:solidFill>
                  <a:srgbClr val="2563EB"/>
                </a:solidFill>
                <a:latin typeface="맑은 고딕"/>
                <a:ea typeface="맑은 고딕"/>
              </a:rPr>
              <a:t>보호되어야 합니다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840480"/>
            <a:ext cx="36576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41148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A34A"/>
                </a:solidFill>
                <a:latin typeface="맑은 고딕"/>
                <a:ea typeface="맑은 고딕"/>
              </a:rPr>
              <a:t>짧은 질문도 놓치지 않는 검색이</a:t>
            </a:r>
          </a:p>
          <a:p>
            <a:pPr algn="ctr"/>
            <a:r>
              <a:rPr sz="1500" b="1">
                <a:solidFill>
                  <a:srgbClr val="16A34A"/>
                </a:solidFill>
                <a:latin typeface="맑은 고딕"/>
                <a:ea typeface="맑은 고딕"/>
              </a:rPr>
              <a:t>진짜 RAG입니다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60720"/>
            <a:ext cx="1124712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기업 정보보호 특화 RAG = 검색 고도화 + 환각 구조적 차단 + 개인정보 완벽 보호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